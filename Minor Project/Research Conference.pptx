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3716000" cy="10287000"/>
  <p:notesSz cx="6858000" cy="9144000"/>
  <p:embeddedFontLst>
    <p:embeddedFont>
      <p:font typeface="Nunito Bold" panose="020B0604020202020204" charset="0"/>
      <p:regular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Wingdings 3" panose="05040102010807070707" pitchFamily="18" charset="2"/>
      <p:regular r:id="rId19"/>
    </p:embeddedFont>
    <p:embeddedFont>
      <p:font typeface="Kollektif" panose="020B0604020202020204" charset="0"/>
      <p:regular r:id="rId20"/>
    </p:embeddedFont>
    <p:embeddedFont>
      <p:font typeface="Nunito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416" y="43"/>
      </p:cViewPr>
      <p:guideLst>
        <p:guide orient="horz" pos="216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3625" y="3771902"/>
            <a:ext cx="9900677" cy="3394172"/>
          </a:xfrm>
        </p:spPr>
        <p:txBody>
          <a:bodyPr anchor="b">
            <a:normAutofit/>
          </a:bodyPr>
          <a:lstStyle>
            <a:lvl1pPr>
              <a:defRPr sz="8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13625" y="7166071"/>
            <a:ext cx="9900677" cy="168942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47578" y="6481738"/>
            <a:ext cx="2093210" cy="1172672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1" y="6794312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92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802" y="936165"/>
            <a:ext cx="9883799" cy="192133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623" y="3200400"/>
            <a:ext cx="9887978" cy="566643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7" y="1066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623" y="3111843"/>
            <a:ext cx="9887978" cy="220320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3623" y="5372100"/>
            <a:ext cx="9887978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7" y="4749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" y="4866211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9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13625" y="3205060"/>
            <a:ext cx="4796297" cy="565109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05961" y="3205060"/>
            <a:ext cx="4795640" cy="565109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87" y="1066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" y="1181675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8028" y="3339939"/>
            <a:ext cx="4311894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3623" y="4204333"/>
            <a:ext cx="4796298" cy="465855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4232" y="3335097"/>
            <a:ext cx="430985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00573" y="4199491"/>
            <a:ext cx="4793520" cy="465855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7" y="1066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" y="1181675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5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800" y="936165"/>
            <a:ext cx="9883800" cy="192133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87" y="1066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7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87" y="1066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0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623" y="669132"/>
            <a:ext cx="3944376" cy="1464468"/>
          </a:xfrm>
        </p:spPr>
        <p:txBody>
          <a:bodyPr anchor="b"/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5241" y="669134"/>
            <a:ext cx="5686359" cy="812244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13623" y="2397920"/>
            <a:ext cx="3944376" cy="6393654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7" y="1066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4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623" y="7200900"/>
            <a:ext cx="9887978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3623" y="952448"/>
            <a:ext cx="9887978" cy="5782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13623" y="8051007"/>
            <a:ext cx="9887978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7" y="73659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6842" y="7474633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5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623" y="914400"/>
            <a:ext cx="9887978" cy="467556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3623" y="6531069"/>
            <a:ext cx="9887978" cy="2333796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7" y="4749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" y="4866211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5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2185" y="914400"/>
            <a:ext cx="9164381" cy="434340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623958" y="5257800"/>
            <a:ext cx="8480832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3623" y="6531069"/>
            <a:ext cx="9887978" cy="2333796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87" y="4749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42" y="4866211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712475" y="972008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4300" y="4357959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45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623" y="3657602"/>
            <a:ext cx="9887978" cy="4087268"/>
          </a:xfrm>
        </p:spPr>
        <p:txBody>
          <a:bodyPr anchor="b">
            <a:normAutofit/>
          </a:bodyPr>
          <a:lstStyle>
            <a:lvl1pPr algn="l"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13623" y="7772400"/>
            <a:ext cx="9887978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7" y="73659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6842" y="7474633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82185" y="914400"/>
            <a:ext cx="9164381" cy="434340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13623" y="6515100"/>
            <a:ext cx="10032438" cy="12573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13623" y="7772400"/>
            <a:ext cx="10032438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87" y="73659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6842" y="7474633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712475" y="972008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4300" y="4357959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3920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624" y="941111"/>
            <a:ext cx="9887976" cy="4320030"/>
          </a:xfrm>
        </p:spPr>
        <p:txBody>
          <a:bodyPr anchor="ctr">
            <a:normAutofit/>
          </a:bodyPr>
          <a:lstStyle>
            <a:lvl1pPr algn="l"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13623" y="6515100"/>
            <a:ext cx="9887978" cy="12573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13623" y="7772400"/>
            <a:ext cx="9887978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7" y="73659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6842" y="7474633"/>
            <a:ext cx="877467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56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7" y="1066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17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17803" y="941110"/>
            <a:ext cx="2484198" cy="7925726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13624" y="941110"/>
            <a:ext cx="7074522" cy="792572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7" y="1066791"/>
            <a:ext cx="2037534" cy="762008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3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2" y="342900"/>
            <a:ext cx="2971800" cy="9957942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30632" y="1124"/>
            <a:ext cx="2928408" cy="10278756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274320" cy="1028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17800" y="936165"/>
            <a:ext cx="9883800" cy="19213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3623" y="3200400"/>
            <a:ext cx="9887978" cy="5829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58600" y="9202634"/>
            <a:ext cx="1149570" cy="5552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13623" y="9203714"/>
            <a:ext cx="8574732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6842" y="1181675"/>
            <a:ext cx="87746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6977" y="994584"/>
            <a:ext cx="10589009" cy="2347698"/>
            <a:chOff x="-41276" y="-1877041"/>
            <a:chExt cx="18824903" cy="4173685"/>
          </a:xfrm>
        </p:grpSpPr>
        <p:sp>
          <p:nvSpPr>
            <p:cNvPr id="3" name="TextBox 3"/>
            <p:cNvSpPr txBox="1"/>
            <p:nvPr/>
          </p:nvSpPr>
          <p:spPr>
            <a:xfrm>
              <a:off x="-41276" y="-1877041"/>
              <a:ext cx="18824903" cy="3214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81"/>
                </a:lnSpc>
              </a:pPr>
              <a:r>
                <a:rPr lang="en-US" sz="3901" dirty="0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Real-Time Driver Drowsiness Detection Using</a:t>
              </a:r>
            </a:p>
            <a:p>
              <a:pPr algn="ctr">
                <a:lnSpc>
                  <a:spcPts val="4681"/>
                </a:lnSpc>
              </a:pPr>
              <a:r>
                <a:rPr lang="en-US" sz="3901" dirty="0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Hybrid CNN-LSTM Model with Facial Feature and Behavioral Analysis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567" y="1567099"/>
              <a:ext cx="17595214" cy="729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250" b="1" dirty="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Paper </a:t>
              </a:r>
              <a:r>
                <a:rPr lang="en-US" sz="2250" b="1" dirty="0" smtClean="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Id</a:t>
              </a:r>
              <a:r>
                <a:rPr lang="en-US" sz="2250" b="1" dirty="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. ICUIS-918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91382" y="196330"/>
            <a:ext cx="92202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400" b="1" dirty="0"/>
              <a:t>4</a:t>
            </a:r>
            <a:r>
              <a:rPr lang="en-US" sz="2400" b="1" baseline="30000" dirty="0"/>
              <a:t>th</a:t>
            </a:r>
            <a:r>
              <a:rPr lang="en-US" sz="2400" b="1" dirty="0"/>
              <a:t> International Conference </a:t>
            </a:r>
            <a:r>
              <a:rPr lang="en-US" sz="2400" b="1" dirty="0" smtClean="0"/>
              <a:t>on Ubiquitous </a:t>
            </a:r>
            <a:r>
              <a:rPr lang="en-US" sz="2400" b="1" dirty="0"/>
              <a:t>Computing </a:t>
            </a:r>
            <a:r>
              <a:rPr lang="en-US" sz="2400" b="1" dirty="0" smtClean="0"/>
              <a:t>and Intelligent </a:t>
            </a:r>
            <a:r>
              <a:rPr lang="en-US" sz="2400" b="1" dirty="0"/>
              <a:t>Information Systems</a:t>
            </a:r>
            <a:endParaRPr lang="en-US" sz="2400" dirty="0"/>
          </a:p>
          <a:p>
            <a:pPr algn="ctr">
              <a:lnSpc>
                <a:spcPts val="2729"/>
              </a:lnSpc>
            </a:pPr>
            <a:endParaRPr lang="en-US" sz="2099" b="1" dirty="0">
              <a:solidFill>
                <a:srgbClr val="00000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152826" y="7124700"/>
            <a:ext cx="4436859" cy="1879675"/>
            <a:chOff x="5486400" y="6131341"/>
            <a:chExt cx="4436859" cy="1879675"/>
          </a:xfrm>
        </p:grpSpPr>
        <p:grpSp>
          <p:nvGrpSpPr>
            <p:cNvPr id="5" name="Group 5"/>
            <p:cNvGrpSpPr/>
            <p:nvPr/>
          </p:nvGrpSpPr>
          <p:grpSpPr>
            <a:xfrm>
              <a:off x="5943600" y="6591300"/>
              <a:ext cx="3979659" cy="715819"/>
              <a:chOff x="0" y="-28575"/>
              <a:chExt cx="7074949" cy="127256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0" y="628438"/>
                <a:ext cx="7074949" cy="6155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729"/>
                  </a:lnSpc>
                </a:pPr>
                <a:endParaRPr sz="135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7074949" cy="6155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729"/>
                  </a:lnSpc>
                </a:pPr>
                <a:r>
                  <a:rPr lang="en-US" sz="2099" b="1" dirty="0">
                    <a:solidFill>
                      <a:srgbClr val="000000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Monil Manish Desai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943600" y="6960870"/>
              <a:ext cx="3979659" cy="715819"/>
              <a:chOff x="0" y="-28575"/>
              <a:chExt cx="7074949" cy="127256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0" y="628438"/>
                <a:ext cx="7074949" cy="6155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729"/>
                  </a:lnSpc>
                </a:pPr>
                <a:endParaRPr sz="135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7074949" cy="6155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729"/>
                  </a:lnSpc>
                </a:pPr>
                <a:r>
                  <a:rPr lang="en-US" sz="2099" b="1" dirty="0">
                    <a:solidFill>
                      <a:srgbClr val="000000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Khushal </a:t>
                </a:r>
                <a:r>
                  <a:rPr lang="en-US" sz="2099" b="1" dirty="0" err="1" smtClean="0">
                    <a:solidFill>
                      <a:srgbClr val="000000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Arvindbhai</a:t>
                </a:r>
                <a:r>
                  <a:rPr lang="en-US" sz="2099" b="1" dirty="0" smtClean="0">
                    <a:solidFill>
                      <a:srgbClr val="000000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 </a:t>
                </a:r>
                <a:r>
                  <a:rPr lang="en-US" sz="2099" b="1" dirty="0">
                    <a:solidFill>
                      <a:srgbClr val="000000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Kathad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943600" y="7295197"/>
              <a:ext cx="3979659" cy="715819"/>
              <a:chOff x="0" y="-28575"/>
              <a:chExt cx="7074949" cy="1272567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0" y="628438"/>
                <a:ext cx="7074949" cy="6155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729"/>
                  </a:lnSpc>
                </a:pPr>
                <a:endParaRPr sz="135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7074949" cy="6155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729"/>
                  </a:lnSpc>
                </a:pPr>
                <a:r>
                  <a:rPr lang="en-US" sz="2099" b="1" dirty="0">
                    <a:solidFill>
                      <a:srgbClr val="000000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Dr. Nandini Modi</a:t>
                </a: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5486400" y="6131341"/>
              <a:ext cx="125226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b="1" dirty="0" smtClean="0">
                  <a:latin typeface="Nunito Bold" panose="020B0604020202020204" charset="0"/>
                </a:rPr>
                <a:t>Authors:</a:t>
              </a:r>
              <a:endParaRPr lang="en-US" sz="2100" b="1" dirty="0">
                <a:latin typeface="Nunito Bold" panose="020B060402020202020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831642" y="7124700"/>
            <a:ext cx="556434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 smtClean="0">
                <a:latin typeface="Nunito Bold" panose="020B0604020202020204" charset="0"/>
              </a:rPr>
              <a:t>Affiliation:</a:t>
            </a:r>
          </a:p>
          <a:p>
            <a:r>
              <a:rPr lang="en-US" sz="2100" b="1" dirty="0">
                <a:latin typeface="Nunito Bold" panose="020B0604020202020204" charset="0"/>
              </a:rPr>
              <a:t>	</a:t>
            </a:r>
            <a:r>
              <a:rPr lang="en-US" sz="2100" b="1" dirty="0" smtClean="0">
                <a:latin typeface="Nunito Bold" panose="020B0604020202020204" charset="0"/>
              </a:rPr>
              <a:t>Pandit Deendayal Energy University</a:t>
            </a:r>
          </a:p>
          <a:p>
            <a:r>
              <a:rPr lang="en-US" sz="2100" b="1" dirty="0">
                <a:latin typeface="Nunito Bold" panose="020B0604020202020204" charset="0"/>
              </a:rPr>
              <a:t>	</a:t>
            </a:r>
            <a:r>
              <a:rPr lang="en-US" sz="2100" b="1" dirty="0" smtClean="0">
                <a:latin typeface="Nunito Bold" panose="020B0604020202020204" charset="0"/>
              </a:rPr>
              <a:t>Gandhinagar, Gujarat, India</a:t>
            </a:r>
            <a:endParaRPr lang="en-US" sz="2100" b="1" dirty="0">
              <a:latin typeface="Nunito Bo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3200400" y="1714500"/>
            <a:ext cx="5697360" cy="4553324"/>
            <a:chOff x="771525" y="2050257"/>
            <a:chExt cx="5697360" cy="4553324"/>
          </a:xfrm>
        </p:grpSpPr>
        <p:sp>
          <p:nvSpPr>
            <p:cNvPr id="2" name="TextBox 2"/>
            <p:cNvSpPr txBox="1"/>
            <p:nvPr/>
          </p:nvSpPr>
          <p:spPr>
            <a:xfrm>
              <a:off x="771525" y="2050257"/>
              <a:ext cx="5697360" cy="807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  <a:spcBef>
                  <a:spcPct val="0"/>
                </a:spcBef>
              </a:pPr>
              <a:r>
                <a:rPr lang="en-US" sz="5250" dirty="0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Table of Contents</a:t>
              </a:r>
            </a:p>
          </p:txBody>
        </p:sp>
        <p:grpSp>
          <p:nvGrpSpPr>
            <p:cNvPr id="3" name="Group 3"/>
            <p:cNvGrpSpPr/>
            <p:nvPr/>
          </p:nvGrpSpPr>
          <p:grpSpPr>
            <a:xfrm>
              <a:off x="1360869" y="3100432"/>
              <a:ext cx="4518672" cy="3503149"/>
              <a:chOff x="0" y="-66675"/>
              <a:chExt cx="8033195" cy="6227821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0" y="-66675"/>
                <a:ext cx="8033195" cy="75234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501967" lvl="1" indent="-250984">
                  <a:lnSpc>
                    <a:spcPts val="3254"/>
                  </a:lnSpc>
                  <a:buFont typeface="Arial"/>
                  <a:buChar char="•"/>
                </a:pPr>
                <a:r>
                  <a:rPr lang="en-US" sz="3200" u="sng" dirty="0">
                    <a:solidFill>
                      <a:srgbClr val="000000"/>
                    </a:solidFill>
                    <a:latin typeface="Nunito"/>
                    <a:ea typeface="Nunito"/>
                    <a:cs typeface="Nunito"/>
                    <a:sym typeface="Nunito"/>
                    <a:hlinkClick r:id="rId2" action="ppaction://hlinksldjump"/>
                  </a:rPr>
                  <a:t>Introduction</a:t>
                </a: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1022772"/>
                <a:ext cx="8033195" cy="75234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501967" lvl="1" indent="-250984">
                  <a:lnSpc>
                    <a:spcPts val="3254"/>
                  </a:lnSpc>
                  <a:buFont typeface="Arial"/>
                  <a:buChar char="•"/>
                </a:pPr>
                <a:r>
                  <a:rPr lang="en-US" sz="3200" u="sng" dirty="0">
                    <a:solidFill>
                      <a:srgbClr val="000000"/>
                    </a:solidFill>
                    <a:latin typeface="Nunito"/>
                    <a:ea typeface="Nunito"/>
                    <a:cs typeface="Nunito"/>
                    <a:sym typeface="Nunito"/>
                    <a:hlinkClick r:id="rId3" action="ppaction://hlinksldjump"/>
                  </a:rPr>
                  <a:t>Literary Review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2111585"/>
                <a:ext cx="8033195" cy="75234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501967" lvl="1" indent="-250984">
                  <a:lnSpc>
                    <a:spcPts val="3254"/>
                  </a:lnSpc>
                  <a:buFont typeface="Arial"/>
                  <a:buChar char="•"/>
                </a:pPr>
                <a:r>
                  <a:rPr lang="en-US" sz="3200" u="sng" dirty="0">
                    <a:solidFill>
                      <a:srgbClr val="000000"/>
                    </a:solidFill>
                    <a:latin typeface="Nunito"/>
                    <a:ea typeface="Nunito"/>
                    <a:cs typeface="Nunito"/>
                    <a:sym typeface="Nunito"/>
                    <a:hlinkClick r:id="rId4" action="ppaction://hlinksldjump"/>
                  </a:rPr>
                  <a:t>Methodology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3200399"/>
                <a:ext cx="8033195" cy="75234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501967" lvl="1" indent="-250984">
                  <a:lnSpc>
                    <a:spcPts val="3254"/>
                  </a:lnSpc>
                  <a:buFont typeface="Arial"/>
                  <a:buChar char="•"/>
                </a:pPr>
                <a:r>
                  <a:rPr lang="en-US" sz="3200" u="sng" dirty="0">
                    <a:solidFill>
                      <a:srgbClr val="000000"/>
                    </a:solidFill>
                    <a:latin typeface="Nunito"/>
                    <a:ea typeface="Nunito"/>
                    <a:cs typeface="Nunito"/>
                    <a:sym typeface="Nunito"/>
                    <a:hlinkClick r:id="rId5" action="ppaction://hlinksldjump"/>
                  </a:rPr>
                  <a:t>Results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4289214"/>
                <a:ext cx="8033195" cy="75234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501967" lvl="1" indent="-250984">
                  <a:lnSpc>
                    <a:spcPts val="3254"/>
                  </a:lnSpc>
                  <a:buFont typeface="Arial"/>
                  <a:buChar char="•"/>
                </a:pPr>
                <a:r>
                  <a:rPr lang="en-US" sz="3200" u="sng" dirty="0">
                    <a:solidFill>
                      <a:srgbClr val="000000"/>
                    </a:solidFill>
                    <a:latin typeface="Nunito"/>
                    <a:ea typeface="Nunito"/>
                    <a:cs typeface="Nunito"/>
                    <a:sym typeface="Nunito"/>
                    <a:hlinkClick r:id="rId6" action="ppaction://hlinksldjump"/>
                  </a:rPr>
                  <a:t>Conclusion</a:t>
                </a:r>
                <a:endParaRPr lang="en-US" sz="3200" u="sng" dirty="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5378026"/>
                <a:ext cx="8033195" cy="78312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501967" lvl="1" indent="-250984">
                  <a:lnSpc>
                    <a:spcPts val="3254"/>
                  </a:lnSpc>
                  <a:buFont typeface="Arial"/>
                  <a:buChar char="•"/>
                </a:pPr>
                <a:r>
                  <a:rPr lang="en-US" sz="3200" u="sng" dirty="0" smtClean="0">
                    <a:solidFill>
                      <a:srgbClr val="000000"/>
                    </a:solidFill>
                    <a:latin typeface="Nunito"/>
                    <a:ea typeface="Nunito"/>
                    <a:cs typeface="Nunito"/>
                    <a:sym typeface="Nunito"/>
                    <a:hlinkClick r:id="rId7" action="ppaction://hlinksldjump"/>
                  </a:rPr>
                  <a:t>References</a:t>
                </a:r>
                <a:endParaRPr lang="en-US" sz="3200" u="sng" dirty="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0800" y="952500"/>
            <a:ext cx="5262176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sz="675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71800" y="2857500"/>
            <a:ext cx="10265407" cy="508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 panose="020B0604020202020204" charset="0"/>
                <a:ea typeface="Nunito"/>
                <a:cs typeface="Nunito"/>
                <a:sym typeface="Nunito"/>
              </a:rPr>
              <a:t>Driver drowsiness is a significant cause of road accidents, responsible for around 20% of fatal crashes globally.</a:t>
            </a:r>
          </a:p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 panose="020B0604020202020204" charset="0"/>
                <a:ea typeface="Nunito"/>
                <a:cs typeface="Nunito"/>
                <a:sym typeface="Nunito"/>
              </a:rPr>
              <a:t>Traditional detection methods (e.g., self-reporting, physiological measures) are either intrusive or unreliable.</a:t>
            </a:r>
          </a:p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 panose="020B0604020202020204" charset="0"/>
                <a:ea typeface="Nunito"/>
                <a:cs typeface="Nunito"/>
                <a:sym typeface="Nunito"/>
              </a:rPr>
              <a:t>So, we aim to develop a real-time, non-intrusive driver drowsiness detection system using a </a:t>
            </a:r>
            <a:r>
              <a:rPr lang="en-US" sz="2800" dirty="0">
                <a:latin typeface="Nunito Bold" panose="020B0604020202020204" charset="0"/>
                <a:ea typeface="Nunito"/>
                <a:cs typeface="Nunito"/>
                <a:sym typeface="Nunito"/>
              </a:rPr>
              <a:t>hybrid CNN-LSTM model.</a:t>
            </a:r>
          </a:p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 panose="020B0604020202020204" charset="0"/>
                <a:ea typeface="Nunito"/>
                <a:cs typeface="Nunito"/>
                <a:sym typeface="Nunito"/>
              </a:rPr>
              <a:t>This will help enhance road safety by offering accurate drowsiness detection.</a:t>
            </a:r>
          </a:p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 panose="020B0604020202020204" charset="0"/>
                <a:ea typeface="Nunito"/>
                <a:cs typeface="Nunito"/>
                <a:sym typeface="Nunito"/>
              </a:rPr>
              <a:t>And also address the limitations of existing methods by integrating advanced feature extraction techniques with deep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667000" y="876300"/>
            <a:ext cx="90678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sz="675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Literature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85911" y="8944325"/>
            <a:ext cx="9604612" cy="1342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47"/>
              </a:lnSpc>
              <a:spcBef>
                <a:spcPct val="0"/>
              </a:spcBef>
            </a:pP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From the above studies, it was discovered that current techniques lack a method to extract facial features in a suitable manner and most models lack to ascertain the influence of temporal patterns in drowsiness detection.</a:t>
            </a:r>
            <a:endParaRPr lang="en-US" sz="2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91" t="405" r="-191" b="26864"/>
          <a:stretch/>
        </p:blipFill>
        <p:spPr>
          <a:xfrm>
            <a:off x="3502017" y="2095500"/>
            <a:ext cx="7772400" cy="662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90800" y="952500"/>
            <a:ext cx="6478311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sz="675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Methodology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55566" y="2917209"/>
            <a:ext cx="4631586" cy="574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54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1. Dataset Collection:</a:t>
            </a:r>
          </a:p>
          <a:p>
            <a:pPr marL="424813" lvl="1" indent="-212406" algn="just">
              <a:lnSpc>
                <a:spcPts val="275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Used the UTARLDD dataset, categorized into "drowsy" and "non-drowsy" states.</a:t>
            </a:r>
          </a:p>
          <a:p>
            <a:pPr algn="just">
              <a:lnSpc>
                <a:spcPts val="2754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2. Feature Extraction:</a:t>
            </a:r>
          </a:p>
          <a:p>
            <a:pPr marL="424813" lvl="1" indent="-212406" algn="just">
              <a:lnSpc>
                <a:spcPts val="275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Utilized MediaPipe's FaceMesh module to extract 468 facial landmarks.</a:t>
            </a:r>
          </a:p>
          <a:p>
            <a:pPr marL="424813" lvl="1" indent="-212406" algn="just">
              <a:lnSpc>
                <a:spcPts val="275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Computed key behavioral features:</a:t>
            </a:r>
          </a:p>
          <a:p>
            <a:pPr marL="424813" lvl="1" indent="-212406" algn="just">
              <a:lnSpc>
                <a:spcPts val="275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Eye Aspect Ratio (EAR): Indicates blinking behavior.</a:t>
            </a:r>
          </a:p>
          <a:p>
            <a:pPr marL="424813" lvl="1" indent="-212406" algn="just">
              <a:lnSpc>
                <a:spcPts val="275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Mouth Aspect Ratio (MAR): Detects yawning.</a:t>
            </a:r>
          </a:p>
          <a:p>
            <a:pPr marL="424813" lvl="1" indent="-212406" algn="just">
              <a:lnSpc>
                <a:spcPts val="275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Head Pose: Tracks head tilt and movement patterns.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89" y="2857500"/>
            <a:ext cx="7349012" cy="5386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24200" y="2400300"/>
            <a:ext cx="10134600" cy="6565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3. Model Architecture:</a:t>
            </a:r>
          </a:p>
          <a:p>
            <a:pPr marL="485775" lvl="1" indent="-242888" algn="just">
              <a:lnSpc>
                <a:spcPts val="31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CNN: Extracts spatial features from facial landmarks.</a:t>
            </a:r>
          </a:p>
          <a:p>
            <a:pPr marL="485775" lvl="1" indent="-242888" algn="just">
              <a:lnSpc>
                <a:spcPts val="31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LSTM: Captures temporal dependencies (e.g., prolonged eye closure or head tilt).</a:t>
            </a:r>
          </a:p>
          <a:p>
            <a:pPr marL="485775" lvl="1" indent="-242888" algn="just">
              <a:lnSpc>
                <a:spcPts val="31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Hybrid Model: Combines CNN and LSTM for accurate classification of "drowsy" vs. "non-drowsy."</a:t>
            </a:r>
          </a:p>
          <a:p>
            <a:pPr algn="just">
              <a:lnSpc>
                <a:spcPts val="3150"/>
              </a:lnSpc>
            </a:pPr>
            <a:endParaRPr lang="en-US" sz="2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4. Training and Evaluation:</a:t>
            </a:r>
          </a:p>
          <a:p>
            <a:pPr marL="485775" lvl="1" indent="-242888" algn="just">
              <a:lnSpc>
                <a:spcPts val="3150"/>
              </a:lnSpc>
              <a:buFont typeface="Arial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Split </a:t>
            </a: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into training, validation, and test sets.</a:t>
            </a:r>
          </a:p>
          <a:p>
            <a:pPr marL="485775" lvl="1" indent="-242888" algn="just">
              <a:lnSpc>
                <a:spcPts val="31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Optimized using Adam optimizer and binary cross-entropy loss.</a:t>
            </a:r>
          </a:p>
          <a:p>
            <a:pPr marL="485775" lvl="1" indent="-242888" algn="just">
              <a:lnSpc>
                <a:spcPts val="31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Evaluated performance using metrics like accuracy, ROC curve, and F1 score.</a:t>
            </a:r>
          </a:p>
          <a:p>
            <a:pPr algn="just">
              <a:lnSpc>
                <a:spcPts val="3150"/>
              </a:lnSpc>
            </a:pPr>
            <a:endParaRPr lang="en-US" sz="2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5. Output:</a:t>
            </a:r>
          </a:p>
          <a:p>
            <a:pPr marL="485775" lvl="1" indent="-242888" algn="just">
              <a:lnSpc>
                <a:spcPts val="31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Achieved high accuracy (98.89%) with the hybrid model integrating EAR, MAR, and head pose features.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876300"/>
            <a:ext cx="7895110" cy="1131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8100"/>
              </a:lnSpc>
            </a:pPr>
            <a:r>
              <a:rPr lang="en-US" sz="6750" dirty="0" smtClean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Methodology Contd.</a:t>
            </a:r>
            <a:endParaRPr lang="en-US" sz="6750" dirty="0">
              <a:solidFill>
                <a:srgbClr val="000000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724" y="4151652"/>
            <a:ext cx="6310676" cy="4268448"/>
          </a:xfrm>
          <a:custGeom>
            <a:avLst/>
            <a:gdLst/>
            <a:ahLst/>
            <a:cxnLst/>
            <a:rect l="l" t="t" r="r" b="b"/>
            <a:pathLst>
              <a:path w="7251885" h="4415595">
                <a:moveTo>
                  <a:pt x="0" y="0"/>
                </a:moveTo>
                <a:lnTo>
                  <a:pt x="7251885" y="0"/>
                </a:lnTo>
                <a:lnTo>
                  <a:pt x="7251885" y="4415595"/>
                </a:lnTo>
                <a:lnTo>
                  <a:pt x="0" y="441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9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62200" y="952500"/>
            <a:ext cx="6979333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sz="675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63902" y="2237887"/>
            <a:ext cx="4912113" cy="1024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262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confusion matrix given below, </a:t>
            </a: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summarizes model’s performance.</a:t>
            </a:r>
            <a:endParaRPr lang="en-US" sz="2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55009" y="2237887"/>
            <a:ext cx="6017391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262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most comprehensive hybrid model(MediaPipe + EAR + MAR + Head Position + CNN +LSTM) achieved the highest accuracy, with an accuracy score of 98.89% and an F1 score of 98.89%.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02" y="3905010"/>
            <a:ext cx="4912113" cy="4515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197795" y="2491307"/>
            <a:ext cx="6086475" cy="3874145"/>
            <a:chOff x="6858000" y="3374601"/>
            <a:chExt cx="6086475" cy="2490790"/>
          </a:xfrm>
        </p:grpSpPr>
        <p:sp>
          <p:nvSpPr>
            <p:cNvPr id="3" name="Freeform 3"/>
            <p:cNvSpPr/>
            <p:nvPr/>
          </p:nvSpPr>
          <p:spPr>
            <a:xfrm>
              <a:off x="6858000" y="3374601"/>
              <a:ext cx="3090708" cy="2490790"/>
            </a:xfrm>
            <a:custGeom>
              <a:avLst/>
              <a:gdLst/>
              <a:ahLst/>
              <a:cxnLst/>
              <a:rect l="l" t="t" r="r" b="b"/>
              <a:pathLst>
                <a:path w="4120944" h="3321053">
                  <a:moveTo>
                    <a:pt x="0" y="0"/>
                  </a:moveTo>
                  <a:lnTo>
                    <a:pt x="4120944" y="0"/>
                  </a:lnTo>
                  <a:lnTo>
                    <a:pt x="4120944" y="3321053"/>
                  </a:lnTo>
                  <a:lnTo>
                    <a:pt x="0" y="3321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0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9931273" y="3374601"/>
              <a:ext cx="3013202" cy="2490790"/>
            </a:xfrm>
            <a:custGeom>
              <a:avLst/>
              <a:gdLst/>
              <a:ahLst/>
              <a:cxnLst/>
              <a:rect l="l" t="t" r="r" b="b"/>
              <a:pathLst>
                <a:path w="4017603" h="3321053">
                  <a:moveTo>
                    <a:pt x="0" y="0"/>
                  </a:moveTo>
                  <a:lnTo>
                    <a:pt x="4017603" y="0"/>
                  </a:lnTo>
                  <a:lnTo>
                    <a:pt x="4017603" y="3321053"/>
                  </a:lnTo>
                  <a:lnTo>
                    <a:pt x="0" y="3321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500996" y="952500"/>
            <a:ext cx="6490604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00"/>
              </a:lnSpc>
            </a:pPr>
            <a:r>
              <a:rPr lang="en-US" sz="675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Results contd.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327" y="6657843"/>
            <a:ext cx="6315075" cy="1024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262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Training and validation </a:t>
            </a:r>
            <a:r>
              <a:rPr lang="en-US" sz="28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plots </a:t>
            </a: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were created to demonstrate the model's learning progress, as depicted above.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86599" y="6382431"/>
            <a:ext cx="6086475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62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Real-Time Implementation</a:t>
            </a:r>
            <a:endParaRPr lang="en-US" sz="28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27" y="2491307"/>
            <a:ext cx="6315075" cy="3874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400" y="1104900"/>
            <a:ext cx="8502417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39"/>
              </a:lnSpc>
            </a:pPr>
            <a:r>
              <a:rPr lang="en-US" sz="675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62200" y="2324100"/>
            <a:ext cx="10896600" cy="584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study proposes a real-time driver drowsiness detection system combining CNN and LSTM models with MediaPipe’s facial landmark detection to extract features like EAR, MAR, and head tilt.</a:t>
            </a:r>
          </a:p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system effectively identifies drowsiness by analyzing temporal patterns in blinking, yawning, and head positioning, achieving high accuracy.</a:t>
            </a:r>
          </a:p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hybrid architecture ensures reliability and adaptability to varying head poses and positions, offering a practical solution for enhancing road safety.</a:t>
            </a:r>
          </a:p>
          <a:p>
            <a:pPr marL="485774" lvl="1" indent="-242887" algn="just">
              <a:lnSpc>
                <a:spcPts val="3307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Future studies </a:t>
            </a: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can utilize high computational resources, combines multimodal datasets and integrate multiple models for optimizations.</a:t>
            </a:r>
          </a:p>
          <a:p>
            <a:pPr algn="r">
              <a:lnSpc>
                <a:spcPts val="2729"/>
              </a:lnSpc>
            </a:pPr>
            <a:endParaRPr lang="en-US" sz="224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1028700"/>
            <a:ext cx="1207076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39"/>
              </a:lnSpc>
            </a:pPr>
            <a:r>
              <a:rPr lang="en-US" sz="675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57400" y="2019300"/>
            <a:ext cx="11125201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63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[1] S.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Bouhsissin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N.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Sael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and F.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Benabbou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”Driver Behavior Classification: A Systematic Literature Review,” in IEEE Access, vol. 11, pp. 14128- 14153, 2023,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10.1109/ACCESS.2023.3243865. </a:t>
            </a:r>
          </a:p>
          <a:p>
            <a:pPr algn="just">
              <a:lnSpc>
                <a:spcPts val="2663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[2] A. Murata, Y.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Urakami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and M.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Moriwaka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“An attempt to prevent traffic accidents due to drowsy driving—Prediction of drowsiness by Bayesian estimation,” in Proc. SICE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Annu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 Conf., Sapporo, Japan, Sep. 2014, pp. 1708–1715. </a:t>
            </a:r>
          </a:p>
          <a:p>
            <a:pPr algn="just">
              <a:lnSpc>
                <a:spcPts val="2663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[3] N. Modi and J Singh, “Role of Eye Tracking in Human Computer Interaction,” ECS Trans., vol. 107, no. 1, p. 8211, 2022,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https://doi.org/10.1149/10701.8211ecst. </a:t>
            </a:r>
          </a:p>
          <a:p>
            <a:pPr algn="just">
              <a:lnSpc>
                <a:spcPts val="2663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[4] N. Modi and J. Singh, Real-time camera-based eye gaze tracking using convolutional neural network, Virtual Real., vol. 26, no. 4, pp. 1489–1506, 2022,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10.1007/s10055-022-00642-6. </a:t>
            </a:r>
          </a:p>
          <a:p>
            <a:pPr algn="just">
              <a:lnSpc>
                <a:spcPts val="2663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[5] S. Das, S.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Pratihar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B. Pradhan, R. H.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Jhaveri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and F. Benedetto, “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IoTAssisted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Automatic Driver Drowsiness Detection through Facial Movement Analysis Using Deep Learning and a U-Net-Based Architecture,” Information, vol. 15, no. 1, p. 30, Jan. 2024,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10.3390/info15010030. </a:t>
            </a:r>
          </a:p>
          <a:p>
            <a:pPr algn="just">
              <a:lnSpc>
                <a:spcPts val="2663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[6] G. Li, B.-L. Lee, and W.-Y. Chung, “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Smartwatch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-Based Wearable EEG system for driver drowsiness detection,” IEEE Sensors Journal, vol. 15, no. 12, pp. 7169–7180, Sep. 2015,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10.1109/jsen.2015.2473679. </a:t>
            </a:r>
          </a:p>
          <a:p>
            <a:pPr algn="just">
              <a:lnSpc>
                <a:spcPts val="2663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[7] L.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Pauly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and D.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Sankar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”Detection of drowsiness based on HOG features and SVM classifiers,” 2015 IEEE International Conference on Research in Computational Intelligence and Communication Networks (ICRCICN), Kolkata, India, 2015, pp. 181-186,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10.1109/ICRCICN.2015.7434232.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0" y="1978819"/>
            <a:ext cx="10515600" cy="7553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4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[8] A. Rahman, M.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Sirshar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and A. Khan, ”Real time drowsiness detection using eye blink monitoring,” 2015 National Software Engineering Conference (NSEC), Rawalpindi, Pakistan, 2015, pp. 1-7,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10.1109/NSEC.2015.7396336. </a:t>
            </a:r>
          </a:p>
          <a:p>
            <a:pPr algn="just">
              <a:lnSpc>
                <a:spcPts val="3074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[9] S.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Saleem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“Risk assessment of road traffic accidents related to sleepiness during driving: a systematic review,” Eastern Mediterranean Health Journal, vol. 28, no. 9, pp. 695–700, Sep. 2022,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10.26719/emhj.22.055. </a:t>
            </a:r>
          </a:p>
          <a:p>
            <a:pPr algn="just">
              <a:lnSpc>
                <a:spcPts val="3074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[10] J. Singh and N. Modi, “A robust, real-time camera-based eye gaze tracking system to analyze users’ visual attention using deep learning,” Interact. Learn. Environ., vol. 32, no. 2, pp. 409–430, 2024,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https://doi.org/10.1080/10494820.2022.2088561. </a:t>
            </a:r>
          </a:p>
          <a:p>
            <a:pPr algn="just">
              <a:lnSpc>
                <a:spcPts val="3074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[11] L. Yang, H. Yang, H. Wei, and Z. Hu, “Video-based driver drowsiness detection with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optimised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utilization of key facial features,” IEEE Trans.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Intell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 Transp. Syst., vol. 25, no. 7, pp. 6938–6950, 2024. </a:t>
            </a:r>
          </a:p>
          <a:p>
            <a:pPr algn="just">
              <a:lnSpc>
                <a:spcPts val="3074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[12] J.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Alguindigue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A. Singh, A. Narayan, and S. Samuel, “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Biosignals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monitoring for driver drowsiness detection using deep neural networks,” IEEE Access, vol. 12, pp. 93075–93086, 2024. </a:t>
            </a:r>
          </a:p>
          <a:p>
            <a:pPr algn="just">
              <a:lnSpc>
                <a:spcPts val="3074"/>
              </a:lnSpc>
            </a:pP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[13] D. R.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Schreier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C. Banks, and J. Mathis, “Driving simulators in the clinical assessment of fitness to drive in sleepy individuals: A systematic review,” Sleep Medicine Reviews, vol. 38, pp. 86–100, May 2017, </a:t>
            </a:r>
            <a:r>
              <a:rPr lang="en-US" sz="2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doi</a:t>
            </a:r>
            <a:r>
              <a:rPr lang="en-US" sz="2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10.1016/j.smrv.2017.04.004.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014452"/>
            <a:ext cx="7257115" cy="9643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6839"/>
              </a:lnSpc>
            </a:pPr>
            <a:r>
              <a:rPr lang="en-US" sz="6750" dirty="0" smtClean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References Contd.</a:t>
            </a:r>
            <a:endParaRPr lang="en-US" sz="6750" dirty="0">
              <a:solidFill>
                <a:srgbClr val="000000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5200" y="4000500"/>
            <a:ext cx="7634520" cy="103874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880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Thank </a:t>
            </a:r>
            <a:r>
              <a:rPr lang="en-US" sz="8800" dirty="0" smtClean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You</a:t>
            </a:r>
            <a:r>
              <a:rPr lang="en-US" sz="880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394</TotalTime>
  <Words>1191</Words>
  <Application>Microsoft Office PowerPoint</Application>
  <PresentationFormat>Custom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Nunito Bold</vt:lpstr>
      <vt:lpstr>Century Gothic</vt:lpstr>
      <vt:lpstr>Wingdings 3</vt:lpstr>
      <vt:lpstr>Kollektif</vt:lpstr>
      <vt:lpstr>Nunito</vt:lpstr>
      <vt:lpstr>Arial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Conference</dc:title>
  <cp:lastModifiedBy>Microsoft account</cp:lastModifiedBy>
  <cp:revision>16</cp:revision>
  <dcterms:created xsi:type="dcterms:W3CDTF">2006-08-16T00:00:00Z</dcterms:created>
  <dcterms:modified xsi:type="dcterms:W3CDTF">2024-12-12T05:06:04Z</dcterms:modified>
  <dc:identifier>DAGYWRdYxh4</dc:identifier>
</cp:coreProperties>
</file>